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"/>
            <a:ext cx="2926080" cy="502920"/>
          </a:xfrm>
          <a:prstGeom prst="rect">
            <a:avLst/>
          </a:prstGeom>
          <a:solidFill>
            <a:srgbClr val="8B00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560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ETHICHAWKS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Governance &amp; Compliance Consultancy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6035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GEMS FORENSIC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6035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GOVERNANCE FAILURE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944368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that Member Premiums are Subsidizing a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"Suppressed" R180 Million Daily Leak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76402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SUBMISSION — UNION LEADERSHIP BRIEFING  |  CONFIDENTIAL — APRIL 2026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766560" y="1325880"/>
            <a:ext cx="2011680" cy="1828800"/>
          </a:xfrm>
          <a:prstGeom prst="rect">
            <a:avLst/>
          </a:prstGeom>
          <a:solidFill>
            <a:srgbClr val="8B00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132588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R180M</a:t>
            </a:r>
            <a:endParaRPr lang="en-US" sz="280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DAILY DRAIN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R180 MILLION "DAILY DRAIN"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697480" cy="192024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984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CLAIMS PROCESSED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R180M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29768" y="2359152"/>
            <a:ext cx="2478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day — with no end-to-end integrity check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234440"/>
            <a:ext cx="2697480" cy="1920240"/>
          </a:xfrm>
          <a:prstGeom prst="rect">
            <a:avLst/>
          </a:prstGeom>
          <a:solidFill>
            <a:srgbClr val="8B00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54680" y="12984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CLAIMS SPEND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154680" y="16002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R67B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264408" y="2359152"/>
            <a:ext cx="2478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R65B collected — a R2 billion annual gap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234440"/>
            <a:ext cx="2697480" cy="1920240"/>
          </a:xfrm>
          <a:prstGeom prst="rect">
            <a:avLst/>
          </a:prstGeom>
          <a:solidFill>
            <a:srgbClr val="1A2F5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89320" y="12984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RESERVE DRAIN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89320" y="16002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C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R2B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099048" y="2359152"/>
            <a:ext cx="2478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 systematically depleted to mask the shortfall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337560"/>
            <a:ext cx="8503920" cy="1371600"/>
          </a:xfrm>
          <a:prstGeom prst="rect">
            <a:avLst/>
          </a:prstGeom>
          <a:solidFill>
            <a:srgbClr val="E8ECF0"/>
          </a:solidFill>
          <a:ln w="12700">
            <a:solidFill>
              <a:srgbClr val="8B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337560"/>
            <a:ext cx="109728" cy="13716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401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FINDING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648456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R180M drain and underlying "Priority 1" clinical system risks were allegedly omitted from the April 8th Integrated Report — constituting material non-disclosure to members, auditors, and the Council for Medical Schemes.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MAHLANGU RCA — EMPIRICAL PROOF OF SYSTEM FAILURE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75-year-old member's complaint exposed a critical "integration gap" in the scheme's clinical architecture.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8412480" cy="914400"/>
          </a:xfrm>
          <a:prstGeom prst="rect">
            <a:avLst/>
          </a:prstGeom>
          <a:solidFill>
            <a:srgbClr val="1A2F5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00200"/>
            <a:ext cx="54864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60020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6642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19202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"Integration Gap" — the clinical system (DMS) is entirely blind to chronic medicine claims processed through Gexus. Two systems. Zero communication.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8412480" cy="914400"/>
          </a:xfrm>
          <a:prstGeom prst="rect">
            <a:avLst/>
          </a:prstGeom>
          <a:solidFill>
            <a:srgbClr val="1A2F5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51760"/>
            <a:ext cx="54864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5176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7157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5840" y="29718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"hallucinates" non-adherence. Automated, misleading letters are sent to healthy, compliant members — causing clinical distress and "confusing the elderly".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03320"/>
            <a:ext cx="8412480" cy="914400"/>
          </a:xfrm>
          <a:prstGeom prst="rect">
            <a:avLst/>
          </a:prstGeom>
          <a:solidFill>
            <a:srgbClr val="1A2F5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703320"/>
            <a:ext cx="54864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7033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37673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FAILURE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5840" y="40233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was explicitly warned in writing that this gap creates a systemic clinical and fiscal leak. They chose to suppress the remediation.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THE 9.5% HIKE IS A "GOVERNANCE TAX"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1051560"/>
          </a:xfrm>
          <a:prstGeom prst="rect">
            <a:avLst/>
          </a:prstGeom>
          <a:solidFill>
            <a:srgbClr val="E8ECF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3273552" cy="105156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8" name="Shape 6"/>
          <p:cNvSpPr/>
          <p:nvPr/>
        </p:nvSpPr>
        <p:spPr>
          <a:xfrm>
            <a:off x="3639312" y="1143000"/>
            <a:ext cx="5138928" cy="10515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887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BENCHMARK</a:t>
            </a:r>
            <a:endParaRPr lang="en-US" sz="10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3.3% – 4.0%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49040" y="11887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TAX</a:t>
            </a:r>
            <a:endParaRPr lang="en-US" sz="10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 – 6.2% EXCESS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77440"/>
            <a:ext cx="269748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" y="2487168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FOR INEFFICIENCY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9768" y="2889504"/>
            <a:ext cx="2478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fund the cost of automated false flags and the manual investigations that follow — all caused by a fixable integration error.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54680" y="237744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2377440"/>
            <a:ext cx="269748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3264408" y="2487168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SUBSIDIZING SYSTEM ERRORS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64408" y="2889504"/>
            <a:ext cx="2478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blindness to chronic claims triggers avoidable acute hospital admissions, draining the day-to-day benefits pool.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237744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89320" y="2377440"/>
            <a:ext cx="269748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099048" y="2487168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DECEPTION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99048" y="2889504"/>
            <a:ext cx="2478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is accused of misrepresenting clinical and financial stability during premium negotiations while knowingly suppressing this leak.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"PROFESSIONAL DEATH" OF CLINICAL OVERSIGHT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5029200" cy="1078992"/>
          </a:xfrm>
          <a:prstGeom prst="rect">
            <a:avLst/>
          </a:prstGeom>
          <a:solidFill>
            <a:srgbClr val="1A2F5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502920" cy="107899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15568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1887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"MARY-ANN" EFFECT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463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nurses who identify integration gaps and refuse to "probe" compliant members face occupational detriment — including constructive dismissal.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304288"/>
            <a:ext cx="5029200" cy="1078992"/>
          </a:xfrm>
          <a:prstGeom prst="rect">
            <a:avLst/>
          </a:prstGeom>
          <a:solidFill>
            <a:srgbClr val="1A2F5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04288"/>
            <a:ext cx="502920" cy="107899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304288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↺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377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RESIGNATION LOOP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26517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specialist nurses resign every month. They are forced to comply with flawed data rather than being empowered to fix the root cause.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493008"/>
            <a:ext cx="5029200" cy="1078992"/>
          </a:xfrm>
          <a:prstGeom prst="rect">
            <a:avLst/>
          </a:prstGeom>
          <a:solidFill>
            <a:srgbClr val="1A2F5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493008"/>
            <a:ext cx="502920" cy="107899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493008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3566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38404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 of institutional knowledge. Perpetual onboarding and training of replacement staff creates a revolving door of expertise destruction.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0" y="1115568"/>
            <a:ext cx="3108960" cy="3566160"/>
          </a:xfrm>
          <a:prstGeom prst="rect">
            <a:avLst/>
          </a:prstGeom>
          <a:solidFill>
            <a:srgbClr val="8B00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0" y="1115568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R40M</a:t>
            </a:r>
            <a:endParaRPr lang="en-US" sz="5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ANNUAL DRAIN</a:t>
            </a:r>
            <a:endParaRPr lang="en-US" sz="52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5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FCCC0"/>
                </a:solidFill>
              </a:rPr>
              <a:t>Just to keep the</a:t>
            </a:r>
            <a:endParaRPr lang="en-US" sz="5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FCCC0"/>
                </a:solidFill>
              </a:rPr>
              <a:t>"revolving door"</a:t>
            </a:r>
            <a:endParaRPr lang="en-US" sz="5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FCCC0"/>
                </a:solidFill>
              </a:rPr>
              <a:t>of staff in training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UNION ACTION — FREEZING THE "GOVERNANCE TAX"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640080" cy="166420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88720"/>
            <a:ext cx="640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051560" y="1280160"/>
            <a:ext cx="1645920" cy="21031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1280160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IMMEDIATE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69848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COURT INTERDICT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69848" y="1847088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to freeze the 9.5% premium increase on the grounds that it is based on "material non-disclosure" of known system risks to the Board and auditors.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188720"/>
            <a:ext cx="640080" cy="166420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188720"/>
            <a:ext cx="640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486400" y="1280160"/>
            <a:ext cx="1645920" cy="21031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1280160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HIGH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504688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FORENSIC AUDIT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04688" y="1847088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 urgent independent audit of the Gexus–DMS integration architecture and its full financial impact on claims integrity since deployment.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017520"/>
            <a:ext cx="640080" cy="166420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017520"/>
            <a:ext cx="640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1051560" y="3108960"/>
            <a:ext cx="1645920" cy="21031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3108960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HIGH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69848" y="33558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BACK PAYMENTS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69848" y="3675888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 refund for all members whose benefits were wrongly affected or flagged during the "integration gap" period — with interest.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017520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017520"/>
            <a:ext cx="640080" cy="166420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017520"/>
            <a:ext cx="640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5486400" y="3108960"/>
            <a:ext cx="1645920" cy="21031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0" y="3108960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OBLIGATION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504688" y="33558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REPORTING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504688" y="3675888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formal filings to IRBA (regarding Integrated Report integrity) and CMS (regarding systemic waste and administrator maladministration).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2560320" cy="475488"/>
          </a:xfrm>
          <a:prstGeom prst="rect">
            <a:avLst/>
          </a:prstGeom>
          <a:solidFill>
            <a:srgbClr val="8B00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2743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ETHICHAWKS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VERDICT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2377440"/>
          </a:xfrm>
          <a:prstGeom prst="rect">
            <a:avLst/>
          </a:prstGeom>
          <a:solidFill>
            <a:srgbClr val="1A2F5A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109728" cy="2377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417320"/>
            <a:ext cx="7818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scheme that suppresses a known R180 million daily drain and then asks its members to pay a 9.5% premium hike to cover the loss is not managing health —</a:t>
            </a:r>
            <a:endParaRPr lang="en-US" sz="1750" dirty="0"/>
          </a:p>
          <a:p>
            <a:pPr algn="l" indent="0" marL="0">
              <a:buNone/>
            </a:pPr>
            <a:endParaRPr lang="en-US" sz="1750" dirty="0"/>
          </a:p>
          <a:p>
            <a:pPr algn="l" indent="0" marL="0">
              <a:buNone/>
            </a:pPr>
            <a:r>
              <a:rPr lang="en-US" sz="1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taxing its own governance failure."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40050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formal "Statutory Siege" Notice and the Mahlangu Root Cause Analysis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44074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EthicHawks Forensic Governance &amp; Compliance Consultancy  |  info@ethichawks.co.za  |  Cape Town, South Africa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is prepared for Union Leadership briefing. All figures derived from formal statutory submissions.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GEMS Forensic Governance Failure</dc:title>
  <dc:subject>PptxGenJS Presentation</dc:subject>
  <dc:creator>EthicHawks Forensic Governance &amp; Compliance Consultancy</dc:creator>
  <cp:lastModifiedBy>EthicHawks Forensic Governance &amp; Compliance Consultancy</cp:lastModifiedBy>
  <cp:revision>1</cp:revision>
  <dcterms:created xsi:type="dcterms:W3CDTF">2026-04-15T09:22:37Z</dcterms:created>
  <dcterms:modified xsi:type="dcterms:W3CDTF">2026-04-15T09:22:37Z</dcterms:modified>
</cp:coreProperties>
</file>